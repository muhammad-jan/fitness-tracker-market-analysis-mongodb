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4" r:id="rId6"/>
    <p:sldId id="265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9EF1"/>
    <a:srgbClr val="F3AD3B"/>
    <a:srgbClr val="F2A62A"/>
    <a:srgbClr val="F19E13"/>
    <a:srgbClr val="041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44" autoAdjust="0"/>
    <p:restoredTop sz="94660"/>
  </p:normalViewPr>
  <p:slideViewPr>
    <p:cSldViewPr snapToGrid="0">
      <p:cViewPr varScale="1">
        <p:scale>
          <a:sx n="80" d="100"/>
          <a:sy n="80" d="100"/>
        </p:scale>
        <p:origin x="2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F1D0-E8FD-CF44-E0CD-880364E05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69A0B-DA2C-8723-D8E9-D30F81FCB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D5034-3ADD-2BDC-F6F3-444F9F4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58D9F-B8AE-5C91-3734-A69E9F1C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A06D-083A-8C49-D4F2-649362C9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2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2507-48FE-B190-AB13-55B1686F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8038-EBC4-F614-062A-19E5DA86A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26EA5-9715-1DA2-94DE-0F6B455B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C82C-4263-A340-89F3-8886547F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CD32B-2F3B-6B8D-7080-0189DA13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0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2DFB-22D5-566A-585C-14FC2AAD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99E23-821F-8563-A91C-534EF0BB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C9F82-C5F5-C448-86F1-65548B15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9835E-117A-35D7-28CC-F05EC03F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B209-204C-F3E9-13FC-9C5F6F99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9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35F4-7C63-4632-6BC6-3D3815B8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C96CD-18EC-CD41-B006-43465F207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2F8BF-25C7-C9BB-1C5B-555B07677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4E6EB-0D35-E96A-CDC4-654B0B1A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AA61-17AB-9980-8481-2A2C728C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EC159-E854-EE26-B7CB-A05A1F90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C734-7ED8-1250-2752-E5A77046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154D8-F1B7-02B3-D1F1-1995A2D3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A55E4-7851-1E78-2A97-4F6D5DE37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E6A60-89C3-7E2B-B82B-C69A8135F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C2DB4-DD07-9F6D-A809-D7075CA59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44B6C-53CB-0A5B-38AE-E115601A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53960-9FB4-EA24-E5D6-B50F4243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262751-996B-7A57-2ED5-E9EB13E3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E820-04AD-B905-5529-159A154D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46301-9B73-00FF-B033-49E2F4F8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6D364-C57E-354C-3862-7ACE22E4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9C10C-9D04-07F5-2EE8-B90D53D2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0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DFD71-4602-4341-A81F-46FEFD34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0411A-CD39-2D13-115E-7C87D108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DEC5A-824C-94F2-F4C8-EE4A0665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5FD2-1295-6A1B-5751-D8C77BAD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4458-1667-D769-661F-0FA4D754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37D2E-CF9C-4C7E-AA42-CB921C970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3151-EA54-74D7-D636-725C50C77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4918-8C8C-AB03-0C07-F361337A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B8449-D2A2-564D-9FAC-A68DE21B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0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4DB1-DDBE-CF78-F233-73C23C11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857D8-6185-1109-16A8-18F69D5ED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8B283-900F-5BCD-F320-2DBF0D913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BFFD2-9F09-4CCC-75AA-6C851D12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22670-6222-169D-E3E4-CE056C1B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8681C-4FDC-3F9E-4489-1E530C1D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1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314E-7C6B-4747-88D3-BA5614B0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B1822-B147-9429-D42B-029AB3430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624F-1E2A-0EE6-CB7E-39AC7E5B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563C8-2C00-DCF8-C03D-6DD326B0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A81BC-5A16-F4E9-71C0-2D52A89D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4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99DE8F-DE25-6C24-C288-905EED8A4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E0679-E454-0812-94C0-5F701FE2C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7F57-055F-06A6-026F-D8EF9D47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97360-FE5A-CAED-3B29-29E5D95E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B340-EEC2-F4B8-EDBC-422AF271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6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C8D13-FA87-987C-30B0-BFDD057D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FF1EC-FE34-C811-CD48-B45D21680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D9CA-667C-49A4-816E-2C4768055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F7658-EA3D-4EBD-AA24-B7B289858DA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E83BB-C230-EF3E-3E89-6E44CF9F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F0B7-400E-D681-5A2C-EAF27796E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D1695-D4A2-43F6-A9DE-30512462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1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A754FA-F904-3A03-02B3-6844DCF3AE8D}"/>
              </a:ext>
            </a:extLst>
          </p:cNvPr>
          <p:cNvSpPr txBox="1"/>
          <p:nvPr/>
        </p:nvSpPr>
        <p:spPr>
          <a:xfrm>
            <a:off x="47625" y="137041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F3AD3B"/>
                </a:solidFill>
                <a:latin typeface="Lato Black" panose="020F0A02020204030203" pitchFamily="34" charset="0"/>
              </a:rPr>
              <a:t>MongoDB Project Presentation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D8A75E-2D88-6166-E4D5-73A2067B1594}"/>
              </a:ext>
            </a:extLst>
          </p:cNvPr>
          <p:cNvCxnSpPr/>
          <p:nvPr/>
        </p:nvCxnSpPr>
        <p:spPr>
          <a:xfrm>
            <a:off x="152400" y="906482"/>
            <a:ext cx="80200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AF6984-899B-CC8E-65B1-2489C214F2DE}"/>
              </a:ext>
            </a:extLst>
          </p:cNvPr>
          <p:cNvSpPr txBox="1"/>
          <p:nvPr/>
        </p:nvSpPr>
        <p:spPr>
          <a:xfrm>
            <a:off x="47625" y="1104811"/>
            <a:ext cx="91535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69EF1"/>
                </a:solidFill>
              </a:rPr>
              <a:t>Project Title:</a:t>
            </a:r>
            <a:r>
              <a:rPr lang="en-US" sz="2400" dirty="0">
                <a:solidFill>
                  <a:srgbClr val="A69EF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Fitness Trackers Data Analysis Using MongoDB.</a:t>
            </a:r>
          </a:p>
          <a:p>
            <a:r>
              <a:rPr lang="en-US" sz="2400" b="1" dirty="0">
                <a:solidFill>
                  <a:srgbClr val="A69EF1"/>
                </a:solidFill>
              </a:rPr>
              <a:t>Student Name: </a:t>
            </a:r>
            <a:r>
              <a:rPr lang="en-US" sz="2400" dirty="0" err="1">
                <a:solidFill>
                  <a:schemeClr val="bg1"/>
                </a:solidFill>
              </a:rPr>
              <a:t>dotun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oduwale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rgbClr val="A69EF1"/>
                </a:solidFill>
              </a:rPr>
              <a:t>Database:</a:t>
            </a:r>
            <a:r>
              <a:rPr lang="en-US" sz="2400" dirty="0">
                <a:solidFill>
                  <a:srgbClr val="A69EF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D597_Task_2.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rgbClr val="A69EF1"/>
                </a:solidFill>
              </a:rPr>
              <a:t>Technology:</a:t>
            </a:r>
            <a:r>
              <a:rPr lang="en-US" sz="2400" dirty="0">
                <a:solidFill>
                  <a:srgbClr val="A69EF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MongoDB (NoSQL).</a:t>
            </a:r>
          </a:p>
        </p:txBody>
      </p:sp>
    </p:spTree>
    <p:extLst>
      <p:ext uri="{BB962C8B-B14F-4D97-AF65-F5344CB8AC3E}">
        <p14:creationId xmlns:p14="http://schemas.microsoft.com/office/powerpoint/2010/main" val="370826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31D9D6-9335-7AD7-3EAF-11B5A385A635}"/>
              </a:ext>
            </a:extLst>
          </p:cNvPr>
          <p:cNvSpPr txBox="1"/>
          <p:nvPr/>
        </p:nvSpPr>
        <p:spPr>
          <a:xfrm>
            <a:off x="47625" y="89416"/>
            <a:ext cx="10648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Project Overview: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D26E1-F44A-B6CF-B272-85B0DE6178B2}"/>
              </a:ext>
            </a:extLst>
          </p:cNvPr>
          <p:cNvSpPr txBox="1"/>
          <p:nvPr/>
        </p:nvSpPr>
        <p:spPr>
          <a:xfrm>
            <a:off x="47625" y="879127"/>
            <a:ext cx="66484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Analysis of fitness trackers and smartwatches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Focus on extracting meaningful business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Used MongoDB Aggregation Framework for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rgbClr val="A69EF1"/>
                </a:solidFill>
              </a:rPr>
              <a:t>Key Objectives: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Average rating by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Device type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Identification of long battery life devices.</a:t>
            </a:r>
          </a:p>
        </p:txBody>
      </p:sp>
    </p:spTree>
    <p:extLst>
      <p:ext uri="{BB962C8B-B14F-4D97-AF65-F5344CB8AC3E}">
        <p14:creationId xmlns:p14="http://schemas.microsoft.com/office/powerpoint/2010/main" val="76827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597F5-CF64-9326-13C3-9147F61E8148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Database &amp; Collection Setup: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BEA27-3706-8212-D8C3-6A50FDD1DE7F}"/>
              </a:ext>
            </a:extLst>
          </p:cNvPr>
          <p:cNvSpPr txBox="1"/>
          <p:nvPr/>
        </p:nvSpPr>
        <p:spPr>
          <a:xfrm>
            <a:off x="47624" y="879127"/>
            <a:ext cx="865822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Name: </a:t>
            </a:r>
            <a:r>
              <a:rPr lang="en-US" b="1" dirty="0">
                <a:solidFill>
                  <a:schemeClr val="bg1"/>
                </a:solidFill>
              </a:rPr>
              <a:t>D597_Task_2.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Collection Name: </a:t>
            </a:r>
            <a:r>
              <a:rPr lang="en-US" b="1" dirty="0" err="1">
                <a:solidFill>
                  <a:schemeClr val="bg1"/>
                </a:solidFill>
              </a:rPr>
              <a:t>fitness_trackers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MongoDB automatically creates the database and collection.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A69EF1"/>
                </a:solidFill>
              </a:rPr>
              <a:t>Command Used:</a:t>
            </a:r>
          </a:p>
          <a:p>
            <a:pPr algn="l"/>
            <a:endParaRPr lang="en-US" sz="20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db.createCollection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fitness_trackers</a:t>
            </a:r>
            <a:r>
              <a:rPr lang="en-US" dirty="0">
                <a:solidFill>
                  <a:schemeClr val="bg1"/>
                </a:solidFill>
              </a:rPr>
              <a:t>")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A7A57-C22F-D743-BF00-820B08CE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3" y="3081289"/>
            <a:ext cx="4582164" cy="69542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1825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7018D7-F4FA-BE41-9D1C-53ABA171BC17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Logical Data Model: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9F4CF-B6E7-3212-2865-014249703AF3}"/>
              </a:ext>
            </a:extLst>
          </p:cNvPr>
          <p:cNvSpPr txBox="1"/>
          <p:nvPr/>
        </p:nvSpPr>
        <p:spPr>
          <a:xfrm>
            <a:off x="47624" y="879127"/>
            <a:ext cx="1082992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dataset follows a </a:t>
            </a:r>
            <a:r>
              <a:rPr lang="en-US" b="1" dirty="0">
                <a:solidFill>
                  <a:schemeClr val="bg1"/>
                </a:solidFill>
              </a:rPr>
              <a:t>document-based data model</a:t>
            </a:r>
            <a:r>
              <a:rPr lang="en-US" dirty="0">
                <a:solidFill>
                  <a:schemeClr val="bg1"/>
                </a:solidFill>
              </a:rPr>
              <a:t>, where each document represents one fitness device.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rgbClr val="A69EF1"/>
                </a:solidFill>
              </a:rPr>
              <a:t>Fields Included:</a:t>
            </a:r>
            <a:endParaRPr lang="en-US" sz="24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_id (</a:t>
            </a:r>
            <a:r>
              <a:rPr lang="en-US" dirty="0" err="1">
                <a:solidFill>
                  <a:schemeClr val="bg1"/>
                </a:solidFill>
              </a:rPr>
              <a:t>ObjectId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Brand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Device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Rating (Out of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Average Battery Life (in days)</a:t>
            </a:r>
          </a:p>
          <a:p>
            <a:r>
              <a:rPr lang="en-US" sz="2400" b="1" dirty="0">
                <a:solidFill>
                  <a:srgbClr val="A69EF1"/>
                </a:solidFill>
              </a:rPr>
              <a:t>Benefit: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joins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Faster aggregation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920161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C2F1D3-778E-F06C-A592-7B2EBEE48D85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Data Insertion Method: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FB1599-051A-6727-F7EA-AC37ADC0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892344"/>
            <a:ext cx="631095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</a:rPr>
              <a:t>Data was imported using MongoDB Compass Import Tool.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</a:rPr>
              <a:t>Bulk import used instead of manual insert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</a:rPr>
              <a:t>Records verified after successful import.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9C218-E351-D114-7B49-7895394A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4854"/>
            <a:ext cx="7315200" cy="3953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60C0C-8BDD-62A0-1A97-30F37451A4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040"/>
          <a:stretch/>
        </p:blipFill>
        <p:spPr bwMode="auto">
          <a:xfrm>
            <a:off x="4724399" y="5878195"/>
            <a:ext cx="3946843" cy="627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866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D06FB-8291-42B5-196E-62039041166E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Data Cleaning &amp; Transformation: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F8AA33-77F4-1AE7-0C35-203699B5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628233"/>
            <a:ext cx="491993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Rating values were stored as strings.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Converted to numeric values during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" panose="020B0604020202020204" pitchFamily="34" charset="0"/>
              </a:rPr>
              <a:t>Technique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A69EF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$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toDouble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operator inside aggregation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" panose="020B0604020202020204" pitchFamily="34" charset="0"/>
              </a:rPr>
              <a:t>Purpose: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A69EF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Accurate average and numerical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747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B0FC0F-CA19-C344-B707-1A84E6094941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Query 1 – Average Rating by Brand: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1D08B2-B740-3885-1138-C1F709DC1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1015901"/>
            <a:ext cx="541590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A69EF1"/>
                </a:solidFill>
              </a:rPr>
              <a:t>Objective:</a:t>
            </a:r>
            <a:r>
              <a:rPr lang="en-US" sz="2000" dirty="0">
                <a:solidFill>
                  <a:srgbClr val="A69EF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Calculate the average rating for each brand.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A69EF1"/>
                </a:solidFill>
              </a:rPr>
              <a:t>Approach:</a:t>
            </a:r>
            <a:endParaRPr lang="en-US" sz="20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Convert rating to numeric.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Group data by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 average rating.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03064-69A7-D1B0-D1B7-7D1903E7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302" y="1907650"/>
            <a:ext cx="1681798" cy="477189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560675-7EE4-FD33-9BDA-5000E088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682" y="1907650"/>
            <a:ext cx="1725836" cy="47718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1A98074-0220-B916-0DD8-114943C3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3099317"/>
            <a:ext cx="3549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Query 1 – Output &amp; Insight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34F6A-F26A-55FD-B97D-018F0408A040}"/>
              </a:ext>
            </a:extLst>
          </p:cNvPr>
          <p:cNvSpPr txBox="1"/>
          <p:nvPr/>
        </p:nvSpPr>
        <p:spPr>
          <a:xfrm>
            <a:off x="47624" y="3586700"/>
            <a:ext cx="764509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u="sng" dirty="0">
                <a:solidFill>
                  <a:srgbClr val="A69EF1"/>
                </a:solidFill>
              </a:rPr>
              <a:t>Sample Results:</a:t>
            </a:r>
            <a:endParaRPr lang="en-US" sz="1900" u="sng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A69EF1"/>
                </a:solidFill>
              </a:rPr>
              <a:t>Apple: </a:t>
            </a:r>
            <a:r>
              <a:rPr lang="en-US" sz="1900" dirty="0">
                <a:solidFill>
                  <a:schemeClr val="bg1"/>
                </a:solidFill>
              </a:rPr>
              <a:t>Highest average rating.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Fossil and Samsung: Strong user satisfaction.</a:t>
            </a:r>
          </a:p>
          <a:p>
            <a:r>
              <a:rPr lang="en-US" sz="1900" b="1" dirty="0">
                <a:solidFill>
                  <a:srgbClr val="A69EF1"/>
                </a:solidFill>
              </a:rPr>
              <a:t>Insight:</a:t>
            </a:r>
            <a:r>
              <a:rPr lang="en-US" sz="1900" dirty="0">
                <a:solidFill>
                  <a:srgbClr val="A69EF1"/>
                </a:solidFill>
              </a:rPr>
              <a:t> </a:t>
            </a:r>
            <a:r>
              <a:rPr lang="en-US" sz="1900" dirty="0">
                <a:solidFill>
                  <a:schemeClr val="bg1"/>
                </a:solidFill>
              </a:rPr>
              <a:t>Brands such as </a:t>
            </a:r>
            <a:r>
              <a:rPr lang="en-US" sz="1900" b="1" dirty="0">
                <a:solidFill>
                  <a:schemeClr val="bg1"/>
                </a:solidFill>
              </a:rPr>
              <a:t>Apple, Fossil, and Samsung</a:t>
            </a:r>
            <a:r>
              <a:rPr lang="en-US" sz="1900" dirty="0">
                <a:solidFill>
                  <a:schemeClr val="bg1"/>
                </a:solidFill>
              </a:rPr>
              <a:t> demonstrate higher customer satisfaction based on ratings.</a:t>
            </a:r>
          </a:p>
        </p:txBody>
      </p:sp>
    </p:spTree>
    <p:extLst>
      <p:ext uri="{BB962C8B-B14F-4D97-AF65-F5344CB8AC3E}">
        <p14:creationId xmlns:p14="http://schemas.microsoft.com/office/powerpoint/2010/main" val="142457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06FA75-B5E0-6E0E-F3A7-3E8CCBB0F923}"/>
              </a:ext>
            </a:extLst>
          </p:cNvPr>
          <p:cNvSpPr txBox="1"/>
          <p:nvPr/>
        </p:nvSpPr>
        <p:spPr>
          <a:xfrm>
            <a:off x="47625" y="89416"/>
            <a:ext cx="106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Query 2 – Device Type Distribution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0A39BDB-2B41-E561-37C9-87E127F7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1139012"/>
            <a:ext cx="68484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A69EF1"/>
                </a:solidFill>
              </a:rPr>
              <a:t>Objective:</a:t>
            </a:r>
            <a:r>
              <a:rPr lang="en-US" sz="2400" dirty="0">
                <a:solidFill>
                  <a:srgbClr val="A69EF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Identify total devices by type.</a:t>
            </a:r>
          </a:p>
          <a:p>
            <a:r>
              <a:rPr lang="en-US" sz="2400" b="1" dirty="0">
                <a:solidFill>
                  <a:srgbClr val="A69EF1"/>
                </a:solidFill>
              </a:rPr>
              <a:t>Approach:</a:t>
            </a:r>
            <a:endParaRPr lang="en-US" sz="24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Group records by Device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Count number of documents.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73B1340-9A92-91E2-9D56-FE2002253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3099317"/>
            <a:ext cx="3549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Query 2 – Output &amp; Insight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D57D9-5C97-E40F-E46E-55FE47C4DB9D}"/>
              </a:ext>
            </a:extLst>
          </p:cNvPr>
          <p:cNvSpPr txBox="1"/>
          <p:nvPr/>
        </p:nvSpPr>
        <p:spPr>
          <a:xfrm>
            <a:off x="47624" y="3586700"/>
            <a:ext cx="115919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A69EF1"/>
                </a:solidFill>
              </a:rPr>
              <a:t>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Smartwatches: 490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Fitness Bands: 75 devices.</a:t>
            </a:r>
          </a:p>
          <a:p>
            <a:r>
              <a:rPr lang="en-US" sz="2400" b="1" dirty="0">
                <a:solidFill>
                  <a:srgbClr val="A69EF1"/>
                </a:solidFill>
              </a:rPr>
              <a:t>Insight:</a:t>
            </a:r>
            <a:r>
              <a:rPr lang="en-US" sz="2400" dirty="0">
                <a:solidFill>
                  <a:srgbClr val="A69EF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Smartwatches dominate the dataset, indicating higher market adoption compared to fitness bands.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583094-6204-F09F-F50B-89948F0A0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34" y="1176855"/>
            <a:ext cx="3662363" cy="31331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3816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0AB09E-C805-2C5A-D47C-40D97434BCEC}"/>
              </a:ext>
            </a:extLst>
          </p:cNvPr>
          <p:cNvSpPr txBox="1"/>
          <p:nvPr/>
        </p:nvSpPr>
        <p:spPr>
          <a:xfrm>
            <a:off x="47625" y="89416"/>
            <a:ext cx="12382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Query 3 – Devices with Battery Life ≥ 14 Days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8F193FA-BA40-2161-A95B-D4FA8D4C2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018312"/>
            <a:ext cx="60769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Retrieve devices with long battery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" panose="020B0604020202020204" pitchFamily="34" charset="0"/>
              </a:rPr>
              <a:t>Approach: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A69EF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Filter devices using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69EF1"/>
                </a:solidFill>
                <a:effectLst/>
                <a:latin typeface="Arial Unicode MS"/>
              </a:rPr>
              <a:t>$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69EF1"/>
                </a:solidFill>
                <a:effectLst/>
                <a:latin typeface="Arial Unicode MS"/>
              </a:rPr>
              <a:t>gte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on battery life.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 brand, model, and battery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F262770-5B8C-DAD1-A227-59A9CC75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3099317"/>
            <a:ext cx="3549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Query 3 – Output &amp; Insight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F59A10-103E-ABEA-B872-85CA9B990DA8}"/>
              </a:ext>
            </a:extLst>
          </p:cNvPr>
          <p:cNvSpPr txBox="1"/>
          <p:nvPr/>
        </p:nvSpPr>
        <p:spPr>
          <a:xfrm>
            <a:off x="47624" y="3586700"/>
            <a:ext cx="85248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A69EF1"/>
                </a:solidFill>
              </a:rPr>
              <a:t>Key Brands Identified:</a:t>
            </a:r>
            <a:endParaRPr lang="en-US" sz="20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Xiaomi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Honor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Oppo</a:t>
            </a:r>
          </a:p>
          <a:p>
            <a:r>
              <a:rPr lang="en-US" sz="2000" b="1" dirty="0">
                <a:solidFill>
                  <a:srgbClr val="A69EF1"/>
                </a:solidFill>
              </a:rPr>
              <a:t>Insight:</a:t>
            </a:r>
            <a:r>
              <a:rPr lang="en-US" sz="2000" dirty="0">
                <a:solidFill>
                  <a:srgbClr val="A69EF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These brands offer multiple devices with extended battery life, suitable for users prioritizing battery performance.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5416B6-30FA-EC3F-C1D4-58970599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91" y="1237345"/>
            <a:ext cx="1516748" cy="42062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A2D11A-8F4A-4A8F-3DD2-0396234B1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095" y="1236227"/>
            <a:ext cx="1709329" cy="420735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89246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4F6988-EC9E-1E31-5E97-E36F9E5463E7}"/>
              </a:ext>
            </a:extLst>
          </p:cNvPr>
          <p:cNvSpPr txBox="1"/>
          <p:nvPr/>
        </p:nvSpPr>
        <p:spPr>
          <a:xfrm>
            <a:off x="47625" y="89416"/>
            <a:ext cx="12382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Query Optimization – Before Indexing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AE5E81E-8805-94AC-47CA-06FCEF3D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005185"/>
            <a:ext cx="392286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indexes applied.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Full collection scan performed.</a:t>
            </a:r>
          </a:p>
          <a:p>
            <a:pPr marL="285750" marR="0" lvl="0" indent="-285750"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Full collection scan </a:t>
            </a:r>
            <a:r>
              <a:rPr lang="en-US" b="1" dirty="0">
                <a:solidFill>
                  <a:srgbClr val="A69EF1"/>
                </a:solidFill>
                <a:latin typeface="Arial" panose="020B0604020202020204" pitchFamily="34" charset="0"/>
              </a:rPr>
              <a:t>(COLLSCAN)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536A7-F1DC-31CB-E0E2-6057DF543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9872" y="1005185"/>
            <a:ext cx="2889963" cy="545337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1075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5B507-E219-C81C-C63B-8B7AD8CC3301}"/>
              </a:ext>
            </a:extLst>
          </p:cNvPr>
          <p:cNvSpPr txBox="1"/>
          <p:nvPr/>
        </p:nvSpPr>
        <p:spPr>
          <a:xfrm>
            <a:off x="47625" y="89416"/>
            <a:ext cx="12382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Query Optimization – After Indexing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86DB6-2A24-5EA4-9F13-6C68C0D0D4DC}"/>
              </a:ext>
            </a:extLst>
          </p:cNvPr>
          <p:cNvSpPr txBox="1"/>
          <p:nvPr/>
        </p:nvSpPr>
        <p:spPr>
          <a:xfrm>
            <a:off x="157163" y="961162"/>
            <a:ext cx="6315074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A69EF1"/>
                </a:solidFill>
              </a:rPr>
              <a:t>Indexes Created On:</a:t>
            </a:r>
            <a:endParaRPr lang="en-US" sz="2000" dirty="0">
              <a:solidFill>
                <a:srgbClr val="A69EF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Brand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Rating (Out of 5)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A69EF1"/>
                </a:solidFill>
              </a:rPr>
              <a:t>Results:</a:t>
            </a:r>
            <a:endParaRPr lang="en-US" sz="2000" dirty="0">
              <a:solidFill>
                <a:srgbClr val="A69EF1"/>
              </a:solidFill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plan shifted from </a:t>
            </a:r>
            <a:r>
              <a:rPr lang="en-US" sz="2000" b="1" dirty="0">
                <a:solidFill>
                  <a:srgbClr val="A69EF1"/>
                </a:solidFill>
              </a:rPr>
              <a:t>COLLSCAN</a:t>
            </a:r>
            <a:r>
              <a:rPr lang="en-US" sz="1600" kern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000" b="1" dirty="0">
                <a:solidFill>
                  <a:srgbClr val="A69EF1"/>
                </a:solidFill>
              </a:rPr>
              <a:t>IXSCAN</a:t>
            </a:r>
            <a:r>
              <a:rPr lang="en-US" sz="1600" kern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Fewer documents were scanned.</a:t>
            </a:r>
            <a:endParaRPr lang="en-US" sz="16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0D6AAD-F8FC-F55D-CC43-EC228E4A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1179" y="1118000"/>
            <a:ext cx="3254185" cy="515521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1835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094BFB-BB05-25FA-5380-BE916D544FBA}"/>
              </a:ext>
            </a:extLst>
          </p:cNvPr>
          <p:cNvSpPr txBox="1"/>
          <p:nvPr/>
        </p:nvSpPr>
        <p:spPr>
          <a:xfrm>
            <a:off x="47625" y="89416"/>
            <a:ext cx="12382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Key Learnings: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F1D701-AFE0-97FE-49FB-6F00DFE4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2411"/>
            <a:ext cx="54200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Practical use of MongoDB aggregation 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Real-world data cleaning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Performance optimization using indexing.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Effective NoSQL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81045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E0157-0C28-980B-FE33-A165F57988DB}"/>
              </a:ext>
            </a:extLst>
          </p:cNvPr>
          <p:cNvSpPr txBox="1"/>
          <p:nvPr/>
        </p:nvSpPr>
        <p:spPr>
          <a:xfrm>
            <a:off x="47625" y="89416"/>
            <a:ext cx="12382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F3AD3B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D25C8-9846-9439-D848-A3A7D995AD6A}"/>
              </a:ext>
            </a:extLst>
          </p:cNvPr>
          <p:cNvSpPr txBox="1"/>
          <p:nvPr/>
        </p:nvSpPr>
        <p:spPr>
          <a:xfrm>
            <a:off x="157162" y="961162"/>
            <a:ext cx="111394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MongoDB is effective for analytical workloads.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Aggregation pipelines simplify complex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Indexing significantly improves query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A69EF1"/>
                </a:solidFill>
              </a:rPr>
              <a:t>Outcome:</a:t>
            </a:r>
            <a:r>
              <a:rPr lang="en-US" sz="2000" dirty="0">
                <a:solidFill>
                  <a:srgbClr val="A69EF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This project demonstrates hands-on experience with MongoDB, data modeling, optimization,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74839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CED0B-B002-7BC0-9E89-C3F206C81E93}"/>
              </a:ext>
            </a:extLst>
          </p:cNvPr>
          <p:cNvSpPr txBox="1"/>
          <p:nvPr/>
        </p:nvSpPr>
        <p:spPr>
          <a:xfrm>
            <a:off x="3048000" y="2465427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00B0F0"/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3B3EC-586D-6E3B-F350-0652314A60BF}"/>
              </a:ext>
            </a:extLst>
          </p:cNvPr>
          <p:cNvSpPr txBox="1"/>
          <p:nvPr/>
        </p:nvSpPr>
        <p:spPr>
          <a:xfrm>
            <a:off x="2181225" y="33887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5086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569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Lato</vt:lpstr>
      <vt:lpstr>Lato Black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Jan</dc:creator>
  <cp:lastModifiedBy>muhammed Jan</cp:lastModifiedBy>
  <cp:revision>3</cp:revision>
  <dcterms:created xsi:type="dcterms:W3CDTF">2026-02-02T17:06:36Z</dcterms:created>
  <dcterms:modified xsi:type="dcterms:W3CDTF">2026-02-14T21:57:43Z</dcterms:modified>
</cp:coreProperties>
</file>